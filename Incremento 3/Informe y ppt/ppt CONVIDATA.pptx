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DM Sans Medium"/>
      <p:regular r:id="rId23"/>
      <p:bold r:id="rId24"/>
      <p:italic r:id="rId25"/>
      <p:boldItalic r:id="rId26"/>
    </p:embeddedFont>
    <p:embeddedFont>
      <p:font typeface="Domine"/>
      <p:regular r:id="rId27"/>
      <p:bold r:id="rId28"/>
    </p:embeddedFont>
    <p:embeddedFont>
      <p:font typeface="DM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qwHKDWdYX7Db/IUc3jlfExjdK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DMSansMedium-bold.fntdata"/><Relationship Id="rId23" Type="http://schemas.openxmlformats.org/officeDocument/2006/relationships/font" Target="fonts/DMSans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Medium-boldItalic.fntdata"/><Relationship Id="rId25" Type="http://schemas.openxmlformats.org/officeDocument/2006/relationships/font" Target="fonts/DMSansMedium-italic.fntdata"/><Relationship Id="rId28" Type="http://schemas.openxmlformats.org/officeDocument/2006/relationships/font" Target="fonts/Domine-bold.fntdata"/><Relationship Id="rId27" Type="http://schemas.openxmlformats.org/officeDocument/2006/relationships/font" Target="fonts/Domin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433a46a23d8f0ef1_4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433a46a23d8f0ef1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433a46a23d8f0ef1_4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h433a46a23d8f0ef1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b451e5df7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b451e5df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433a46a23d8f0ef1_5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433a46a23d8f0ef1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433a46a23d8f0ef1_5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h433a46a23d8f0ef1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Osvaldo wazaaaaaaaaaaaaaaaaaaaaaaaaaaaaaaaaaaaaaaaaaaaaaaaaaaaaaaaaaaaaaaaaaaaaaaaaaaaaaaaaa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" name="Google Shape;14;p20"/>
          <p:cNvSpPr txBox="1"/>
          <p:nvPr>
            <p:ph type="ctrTitle"/>
          </p:nvPr>
        </p:nvSpPr>
        <p:spPr>
          <a:xfrm>
            <a:off x="4654295" y="1346268"/>
            <a:ext cx="7060135" cy="32852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Meiryo"/>
              <a:buNone/>
              <a:defRPr sz="54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4662312" y="4631475"/>
            <a:ext cx="7052117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654295" y="617415"/>
            <a:ext cx="71237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4654295" y="6170490"/>
            <a:ext cx="5588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10515600" y="6170490"/>
            <a:ext cx="11988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9" name="Google Shape;19;p20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" name="Google Shape;20;p20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" name="Google Shape;21;p20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192024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192024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3" type="body"/>
          </p:nvPr>
        </p:nvSpPr>
        <p:spPr>
          <a:xfrm>
            <a:off x="6530290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22"/>
          <p:cNvSpPr txBox="1"/>
          <p:nvPr>
            <p:ph idx="4" type="body"/>
          </p:nvPr>
        </p:nvSpPr>
        <p:spPr>
          <a:xfrm>
            <a:off x="6530290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36" name="Google Shape;36;p22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3"/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39" name="Google Shape;39;p23"/>
            <p:cNvSpPr/>
            <p:nvPr/>
          </p:nvSpPr>
          <p:spPr>
            <a:xfrm>
              <a:off x="3320637" y="0"/>
              <a:ext cx="4013331" cy="2742133"/>
            </a:xfrm>
            <a:custGeom>
              <a:rect b="b" l="l" r="r" t="t"/>
              <a:pathLst>
                <a:path extrusionOk="0" h="2742133" w="4013331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" name="Google Shape;40;p23"/>
            <p:cNvSpPr/>
            <p:nvPr/>
          </p:nvSpPr>
          <p:spPr>
            <a:xfrm>
              <a:off x="3566319" y="0"/>
              <a:ext cx="3401415" cy="2440484"/>
            </a:xfrm>
            <a:custGeom>
              <a:rect b="b" l="l" r="r" t="t"/>
              <a:pathLst>
                <a:path extrusionOk="0" h="2440484" w="3401415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" name="Google Shape;41;p23"/>
            <p:cNvSpPr/>
            <p:nvPr/>
          </p:nvSpPr>
          <p:spPr>
            <a:xfrm>
              <a:off x="3232490" y="0"/>
              <a:ext cx="4164597" cy="2817185"/>
            </a:xfrm>
            <a:custGeom>
              <a:rect b="b" l="l" r="r" t="t"/>
              <a:pathLst>
                <a:path extrusionOk="0" h="2806419" w="4130517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" name="Google Shape;42;p23"/>
            <p:cNvSpPr/>
            <p:nvPr/>
          </p:nvSpPr>
          <p:spPr>
            <a:xfrm>
              <a:off x="3124577" y="0"/>
              <a:ext cx="4389519" cy="2916937"/>
            </a:xfrm>
            <a:custGeom>
              <a:rect b="b" l="l" r="r" t="t"/>
              <a:pathLst>
                <a:path extrusionOk="0" h="2916937" w="4389519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43" name="Google Shape;43;p23"/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44" name="Google Shape;44;p23"/>
            <p:cNvSpPr/>
            <p:nvPr/>
          </p:nvSpPr>
          <p:spPr>
            <a:xfrm>
              <a:off x="8122942" y="0"/>
              <a:ext cx="4069058" cy="3547008"/>
            </a:xfrm>
            <a:custGeom>
              <a:rect b="b" l="l" r="r" t="t"/>
              <a:pathLst>
                <a:path extrusionOk="0" h="3547008" w="406905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5" name="Google Shape;45;p23"/>
            <p:cNvSpPr/>
            <p:nvPr/>
          </p:nvSpPr>
          <p:spPr>
            <a:xfrm flipH="1">
              <a:off x="8319994" y="0"/>
              <a:ext cx="3872006" cy="3321595"/>
            </a:xfrm>
            <a:custGeom>
              <a:rect b="b" l="l" r="r" t="t"/>
              <a:pathLst>
                <a:path extrusionOk="0" h="3321595" w="3872006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6" name="Google Shape;46;p23"/>
            <p:cNvSpPr/>
            <p:nvPr/>
          </p:nvSpPr>
          <p:spPr>
            <a:xfrm flipH="1">
              <a:off x="8729240" y="9274"/>
              <a:ext cx="3462454" cy="3010961"/>
            </a:xfrm>
            <a:custGeom>
              <a:rect b="b" l="l" r="r" t="t"/>
              <a:pathLst>
                <a:path extrusionOk="0" h="3010961" w="3462454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" name="Google Shape;47;p23"/>
            <p:cNvSpPr/>
            <p:nvPr/>
          </p:nvSpPr>
          <p:spPr>
            <a:xfrm flipH="1">
              <a:off x="8243247" y="9274"/>
              <a:ext cx="3948447" cy="3411460"/>
            </a:xfrm>
            <a:custGeom>
              <a:rect b="b" l="l" r="r" t="t"/>
              <a:pathLst>
                <a:path extrusionOk="0" h="3411460" w="3904481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48" name="Google Shape;48;p23"/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49" name="Google Shape;49;p23"/>
            <p:cNvSpPr/>
            <p:nvPr/>
          </p:nvSpPr>
          <p:spPr>
            <a:xfrm>
              <a:off x="0" y="1676545"/>
              <a:ext cx="4174269" cy="5181455"/>
            </a:xfrm>
            <a:custGeom>
              <a:rect b="b" l="l" r="r" t="t"/>
              <a:pathLst>
                <a:path extrusionOk="0" h="5181455" w="4174269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0" name="Google Shape;50;p23"/>
            <p:cNvSpPr/>
            <p:nvPr/>
          </p:nvSpPr>
          <p:spPr>
            <a:xfrm>
              <a:off x="0" y="1347287"/>
              <a:ext cx="4259808" cy="5510713"/>
            </a:xfrm>
            <a:custGeom>
              <a:rect b="b" l="l" r="r" t="t"/>
              <a:pathLst>
                <a:path extrusionOk="0" h="5510713" w="4259808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1" name="Google Shape;51;p23"/>
            <p:cNvSpPr/>
            <p:nvPr/>
          </p:nvSpPr>
          <p:spPr>
            <a:xfrm>
              <a:off x="0" y="1592806"/>
              <a:ext cx="4029221" cy="5265194"/>
            </a:xfrm>
            <a:custGeom>
              <a:rect b="b" l="l" r="r" t="t"/>
              <a:pathLst>
                <a:path extrusionOk="0" h="5265194" w="4029221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2" name="Google Shape;52;p23"/>
            <p:cNvSpPr/>
            <p:nvPr/>
          </p:nvSpPr>
          <p:spPr>
            <a:xfrm>
              <a:off x="0" y="2147333"/>
              <a:ext cx="3702048" cy="4710667"/>
            </a:xfrm>
            <a:custGeom>
              <a:rect b="b" l="l" r="r" t="t"/>
              <a:pathLst>
                <a:path extrusionOk="0" h="4710667" w="3702048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53" name="Google Shape;53;p23"/>
          <p:cNvSpPr txBox="1"/>
          <p:nvPr>
            <p:ph type="title"/>
          </p:nvPr>
        </p:nvSpPr>
        <p:spPr>
          <a:xfrm>
            <a:off x="4654296" y="3420734"/>
            <a:ext cx="6665976" cy="21296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sz="480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4654296" y="6170490"/>
            <a:ext cx="57133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4654295" y="5550408"/>
            <a:ext cx="666597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640080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192024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653029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>
            <a:off x="8476488" y="640080"/>
            <a:ext cx="3227715" cy="25517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>
            <a:off x="1280160" y="640080"/>
            <a:ext cx="6949440" cy="5455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77" name="Google Shape;77;p27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1280160" y="617049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solidFill>
            <a:srgbClr val="DCD6C4"/>
          </a:solidFill>
          <a:ln>
            <a:noFill/>
          </a:ln>
        </p:spPr>
      </p:sp>
      <p:sp>
        <p:nvSpPr>
          <p:cNvPr id="83" name="Google Shape;83;p28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28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1" type="ftr"/>
          </p:nvPr>
        </p:nvSpPr>
        <p:spPr>
          <a:xfrm>
            <a:off x="1280160" y="6170490"/>
            <a:ext cx="64644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" type="body"/>
          </p:nvPr>
        </p:nvSpPr>
        <p:spPr>
          <a:xfrm rot="5400000">
            <a:off x="4479774" y="-247258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0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1" type="body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0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0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00" name="Google Shape;100;p30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b="0" i="0" sz="1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b="0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1" name="Google Shape;11;p19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jp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06" name="Google Shape;106;p1" title="1250635470-ssebastian-3854.jpg"/>
          <p:cNvPicPr preferRelativeResize="0"/>
          <p:nvPr/>
        </p:nvPicPr>
        <p:blipFill rotWithShape="1">
          <a:blip r:embed="rId4">
            <a:alphaModFix/>
          </a:blip>
          <a:srcRect b="0" l="12659" r="12659" t="0"/>
          <a:stretch/>
        </p:blipFill>
        <p:spPr>
          <a:xfrm>
            <a:off x="4800683" y="-3"/>
            <a:ext cx="7704667" cy="6877878"/>
          </a:xfrm>
          <a:custGeom>
            <a:rect b="b" l="l" r="r" t="t"/>
            <a:pathLst>
              <a:path extrusionOk="0" h="6877878" w="7704667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0" y="0"/>
            <a:ext cx="7475746" cy="6858000"/>
          </a:xfrm>
          <a:custGeom>
            <a:rect b="b" l="l" r="r" t="t"/>
            <a:pathLst>
              <a:path extrusionOk="0" h="6858000" w="7475746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-52278" y="0"/>
            <a:ext cx="7289059" cy="6858000"/>
          </a:xfrm>
          <a:custGeom>
            <a:rect b="b" l="l" r="r" t="t"/>
            <a:pathLst>
              <a:path extrusionOk="0" h="6858000" w="7163694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5229827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111675" y="264225"/>
            <a:ext cx="61779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CL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 13: CONVIDATA</a:t>
            </a:r>
            <a:endParaRPr sz="3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429442" y="2913358"/>
            <a:ext cx="4162357" cy="3542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fontScale="4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Integrantes: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Osvaldo Octavio Caraccioli Cisterna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Andres Fernández Soto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Benjamín Alejandro Orellana Romero .i.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Isaías Abel Ortiz Castro 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Maximiliano Thomas Soto Garrido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Matías Ignacio Urria Ibarra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78338"/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</a:t>
            </a: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Paulo Luis Francisco Quinsacara Jofré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br>
              <a:rPr lang="es-CL"/>
            </a:br>
            <a:endParaRPr/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3454" y="2557039"/>
            <a:ext cx="1803325" cy="18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6">
            <a:alphaModFix/>
          </a:blip>
          <a:srcRect b="14733" l="13642" r="7138" t="22414"/>
          <a:stretch/>
        </p:blipFill>
        <p:spPr>
          <a:xfrm>
            <a:off x="9652000" y="111500"/>
            <a:ext cx="2529725" cy="10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55" y="-14350"/>
            <a:ext cx="12191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2"/>
          <p:cNvSpPr txBox="1"/>
          <p:nvPr>
            <p:ph type="title"/>
          </p:nvPr>
        </p:nvSpPr>
        <p:spPr>
          <a:xfrm>
            <a:off x="5937925" y="1146286"/>
            <a:ext cx="56241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 </a:t>
            </a:r>
            <a:endParaRPr sz="2800"/>
          </a:p>
        </p:txBody>
      </p:sp>
      <p:sp>
        <p:nvSpPr>
          <p:cNvPr id="128" name="Google Shape;128;p2"/>
          <p:cNvSpPr/>
          <p:nvPr/>
        </p:nvSpPr>
        <p:spPr>
          <a:xfrm>
            <a:off x="587555" y="993913"/>
            <a:ext cx="5224848" cy="4884295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83293" y="1074738"/>
            <a:ext cx="4906732" cy="467981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77837" y="850790"/>
            <a:ext cx="5407926" cy="513654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400" y="1939125"/>
            <a:ext cx="2536425" cy="2536425"/>
          </a:xfrm>
          <a:prstGeom prst="rect">
            <a:avLst/>
          </a:prstGeom>
          <a:noFill/>
          <a:ln cap="flat" cmpd="sng" w="9525">
            <a:solidFill>
              <a:srgbClr val="6E17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niversidad Andrés Bello - Red Campus Sustentable" id="132" name="Google Shape;1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>
            <p:ph type="title"/>
          </p:nvPr>
        </p:nvSpPr>
        <p:spPr>
          <a:xfrm>
            <a:off x="6006300" y="2332000"/>
            <a:ext cx="5624100" cy="28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CL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este proyecto se desarrollará un sistema de registro y almacenamiento de datos de convivencia escolar para el Colegio San Sebastián de Melipilla. La propuesta surge debido a la falta de digitalización de las anotaciones, lo que genera pérdida de tiempo y dificulta la gestión de la información. Este sistema permitirá optimizar el registro, consulta y seguimiento de los casos de convivencia escolar.</a:t>
            </a:r>
            <a:endParaRPr sz="134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Introducción</a:t>
            </a:r>
            <a:endParaRPr sz="4200"/>
          </a:p>
        </p:txBody>
      </p:sp>
      <p:grpSp>
        <p:nvGrpSpPr>
          <p:cNvPr id="139" name="Google Shape;139;p3"/>
          <p:cNvGrpSpPr/>
          <p:nvPr/>
        </p:nvGrpSpPr>
        <p:grpSpPr>
          <a:xfrm>
            <a:off x="6367125" y="2026594"/>
            <a:ext cx="4286400" cy="3680400"/>
            <a:chOff x="2428800" y="736800"/>
            <a:chExt cx="4286400" cy="3680400"/>
          </a:xfrm>
        </p:grpSpPr>
        <p:sp>
          <p:nvSpPr>
            <p:cNvPr id="140" name="Google Shape;140;p3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41" name="Google Shape;141;p3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3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3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17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Requerimientos funcionales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8" name="Google Shape;148;p3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Progreso para el incremento 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b="1" i="0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17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Requerimiento UR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50" name="Google Shape;150;p3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3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" name="Google Shape;152;p3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17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Casos de uso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 rot="10800000">
              <a:off x="2592159" y="387870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 rot="10800000">
              <a:off x="2670597" y="387881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35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Diagrama de secuencia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6025600" y="2092100"/>
            <a:ext cx="4668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59" name="Google Shape;159;p3"/>
          <p:cNvGrpSpPr/>
          <p:nvPr/>
        </p:nvGrpSpPr>
        <p:grpSpPr>
          <a:xfrm>
            <a:off x="1920250" y="2037709"/>
            <a:ext cx="4286400" cy="3680400"/>
            <a:chOff x="2428800" y="736800"/>
            <a:chExt cx="4286400" cy="3680400"/>
          </a:xfrm>
        </p:grpSpPr>
        <p:sp>
          <p:nvSpPr>
            <p:cNvPr id="160" name="Google Shape;160;p3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61" name="Google Shape;161;p3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3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" name="Google Shape;163;p3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75  Requerimientos Funcionales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Total definido para el proyecto</a:t>
              </a:r>
              <a:endParaRPr b="1" i="0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75 Requerimientos UR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70" name="Google Shape;170;p3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3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3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79 Casos de uso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76" name="Google Shape;176;p3"/>
          <p:cNvSpPr txBox="1"/>
          <p:nvPr/>
        </p:nvSpPr>
        <p:spPr>
          <a:xfrm>
            <a:off x="5039100" y="5707000"/>
            <a:ext cx="2113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Avance total: </a:t>
            </a:r>
            <a:r>
              <a:rPr b="1" lang="es-CL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96</a:t>
            </a:r>
            <a:r>
              <a:rPr b="1" i="0" lang="es-CL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%</a:t>
            </a:r>
            <a:endParaRPr b="1" i="0" sz="1600" u="none" cap="none" strike="noStrike">
              <a:solidFill>
                <a:srgbClr val="783F0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RF-17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82" name="Google Shape;1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2425" y="12005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</a:t>
            </a:r>
            <a:r>
              <a:rPr b="1" lang="es-CL" sz="1600">
                <a:solidFill>
                  <a:schemeClr val="dk1"/>
                </a:solidFill>
              </a:rPr>
              <a:t>17</a:t>
            </a: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600">
                <a:solidFill>
                  <a:schemeClr val="dk1"/>
                </a:solidFill>
              </a:rPr>
              <a:t>El sistema debe notificar al usuario creador del caso en el apartado de notificaciones cuando el caso sea eliminado o editado por otro usuario, en un plazo máximo de 4 segundos desde su modificación.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850" y="2670175"/>
            <a:ext cx="5120382" cy="388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36050" y="3129875"/>
            <a:ext cx="594360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RF-34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93" name="Google Shape;1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6125" y="120063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4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</a:rPr>
              <a:t>RF-34)</a:t>
            </a:r>
            <a:r>
              <a:rPr lang="es-CL" sz="1600">
                <a:solidFill>
                  <a:schemeClr val="dk1"/>
                </a:solidFill>
              </a:rPr>
              <a:t> El sistema debe mostrar al profesor una alerta automática en “notificaciones”, cuando su curso exceda los 10 casos semanales.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8900" y="2614200"/>
            <a:ext cx="6327124" cy="34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"/>
          <p:cNvPicPr preferRelativeResize="0"/>
          <p:nvPr/>
        </p:nvPicPr>
        <p:blipFill rotWithShape="1">
          <a:blip r:embed="rId7">
            <a:alphaModFix/>
          </a:blip>
          <a:srcRect b="0" l="0" r="0" t="2913"/>
          <a:stretch/>
        </p:blipFill>
        <p:spPr>
          <a:xfrm>
            <a:off x="223075" y="2546400"/>
            <a:ext cx="4880850" cy="376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>
            <p:ph type="title"/>
          </p:nvPr>
        </p:nvSpPr>
        <p:spPr>
          <a:xfrm>
            <a:off x="2121490" y="155286"/>
            <a:ext cx="8770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Componentes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05" name="Google Shape;2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10575" y="120063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3951" y="1831925"/>
            <a:ext cx="8882674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9250" y="1104275"/>
            <a:ext cx="10361324" cy="544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type="title"/>
          </p:nvPr>
        </p:nvSpPr>
        <p:spPr>
          <a:xfrm>
            <a:off x="1985983" y="179137"/>
            <a:ext cx="7644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Modelo Físico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 title="Diagram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775" y="1074812"/>
            <a:ext cx="10654450" cy="5376704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9"/>
          <p:cNvSpPr/>
          <p:nvPr/>
        </p:nvSpPr>
        <p:spPr>
          <a:xfrm>
            <a:off x="6056050" y="3360800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3111500" y="279017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1868075" y="2040600"/>
            <a:ext cx="88227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24" name="Google Shape;22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1800" y="1363075"/>
            <a:ext cx="3906375" cy="43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1900" y="1363075"/>
            <a:ext cx="4038025" cy="43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>
            <p:ph idx="1" type="body"/>
          </p:nvPr>
        </p:nvSpPr>
        <p:spPr>
          <a:xfrm>
            <a:off x="1920241" y="2456408"/>
            <a:ext cx="4160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 txBox="1"/>
          <p:nvPr>
            <p:ph idx="2" type="body"/>
          </p:nvPr>
        </p:nvSpPr>
        <p:spPr>
          <a:xfrm>
            <a:off x="1920241" y="3316639"/>
            <a:ext cx="4160400" cy="27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 txBox="1"/>
          <p:nvPr>
            <p:ph idx="3" type="body"/>
          </p:nvPr>
        </p:nvSpPr>
        <p:spPr>
          <a:xfrm>
            <a:off x="6530290" y="2456408"/>
            <a:ext cx="4160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 txBox="1"/>
          <p:nvPr>
            <p:ph idx="4" type="body"/>
          </p:nvPr>
        </p:nvSpPr>
        <p:spPr>
          <a:xfrm>
            <a:off x="6530290" y="3316639"/>
            <a:ext cx="4160400" cy="27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 txBox="1"/>
          <p:nvPr>
            <p:ph type="title"/>
          </p:nvPr>
        </p:nvSpPr>
        <p:spPr>
          <a:xfrm>
            <a:off x="1827200" y="274725"/>
            <a:ext cx="87705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Diagrama de secuencia CU18</a:t>
            </a:r>
            <a:endParaRPr sz="4200"/>
          </a:p>
        </p:txBody>
      </p:sp>
      <p:pic>
        <p:nvPicPr>
          <p:cNvPr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37" name="Google Shape;2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7" title="Captura de pantalla 2026-10-05 1237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4050" y="1218100"/>
            <a:ext cx="11092350" cy="56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73715" y="209595"/>
            <a:ext cx="87705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Diagrama de secuencia CU37</a:t>
            </a:r>
            <a:endParaRPr sz="4200"/>
          </a:p>
        </p:txBody>
      </p:sp>
      <p:pic>
        <p:nvPicPr>
          <p:cNvPr id="244" name="Google Shape;2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45" name="Google Shape;2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6" title="Captura de pantalla 2026-10-05 1240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9163" y="1444476"/>
            <a:ext cx="9779625" cy="54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>
            <p:ph type="title"/>
          </p:nvPr>
        </p:nvSpPr>
        <p:spPr>
          <a:xfrm>
            <a:off x="1698600" y="523320"/>
            <a:ext cx="87705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Árbol de navegación</a:t>
            </a:r>
            <a:endParaRPr sz="4200"/>
          </a:p>
        </p:txBody>
      </p:sp>
      <p:pic>
        <p:nvPicPr>
          <p:cNvPr descr="Universidad Andrés Bello - Red Campus Sustentable" id="252" name="Google Shape;2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734853"/>
            <a:ext cx="12192000" cy="370284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4894175" y="3420075"/>
            <a:ext cx="264900" cy="33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433a46a23d8f0ef1_4_16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433a46a23d8f0ef1_4_16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h433a46a23d8f0ef1_4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101" y="2312276"/>
            <a:ext cx="3730050" cy="237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h433a46a23d8f0ef1_4_16"/>
          <p:cNvSpPr/>
          <p:nvPr/>
        </p:nvSpPr>
        <p:spPr>
          <a:xfrm>
            <a:off x="5701600" y="1787425"/>
            <a:ext cx="474900" cy="534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433a46a23d8f0ef1_4_8"/>
          <p:cNvSpPr txBox="1"/>
          <p:nvPr>
            <p:ph type="title"/>
          </p:nvPr>
        </p:nvSpPr>
        <p:spPr>
          <a:xfrm>
            <a:off x="1581200" y="56899"/>
            <a:ext cx="8770500" cy="9930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700"/>
              <a:t>Notificar eliminación o edición de caso</a:t>
            </a:r>
            <a:endParaRPr sz="3700"/>
          </a:p>
        </p:txBody>
      </p:sp>
      <p:sp>
        <p:nvSpPr>
          <p:cNvPr id="269" name="Google Shape;269;h433a46a23d8f0ef1_4_8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h433a46a23d8f0ef1_4_8" title="rf-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5150"/>
            <a:ext cx="12242800" cy="29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h433a46a23d8f0ef1_4_8" title="rf-17 claro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145250"/>
            <a:ext cx="12289774" cy="27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451e5df7_1_29"/>
          <p:cNvSpPr txBox="1"/>
          <p:nvPr>
            <p:ph type="title"/>
          </p:nvPr>
        </p:nvSpPr>
        <p:spPr>
          <a:xfrm>
            <a:off x="1920240" y="3539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NOTIFICACIÓN AL PROFESOR SI SE SUPERAN LOS 10 CASOS</a:t>
            </a:r>
            <a:endParaRPr sz="4200"/>
          </a:p>
        </p:txBody>
      </p:sp>
      <p:sp>
        <p:nvSpPr>
          <p:cNvPr id="277" name="Google Shape;277;g3fb451e5df7_1_29"/>
          <p:cNvSpPr txBox="1"/>
          <p:nvPr>
            <p:ph idx="1" type="body"/>
          </p:nvPr>
        </p:nvSpPr>
        <p:spPr>
          <a:xfrm>
            <a:off x="1920240" y="288892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g3fb451e5df7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8099934">
            <a:off x="1587248" y="4939590"/>
            <a:ext cx="257553" cy="65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fb451e5df7_1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20120"/>
            <a:ext cx="12192001" cy="270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fb451e5df7_1_29"/>
          <p:cNvPicPr preferRelativeResize="0"/>
          <p:nvPr/>
        </p:nvPicPr>
        <p:blipFill rotWithShape="1">
          <a:blip r:embed="rId5">
            <a:alphaModFix/>
          </a:blip>
          <a:srcRect b="8027" l="0" r="0" t="3273"/>
          <a:stretch/>
        </p:blipFill>
        <p:spPr>
          <a:xfrm>
            <a:off x="0" y="4351800"/>
            <a:ext cx="12192000" cy="25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433a46a23d8f0ef1_5_1"/>
          <p:cNvSpPr txBox="1"/>
          <p:nvPr>
            <p:ph type="title"/>
          </p:nvPr>
        </p:nvSpPr>
        <p:spPr>
          <a:xfrm>
            <a:off x="1600265" y="2125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/>
              <a:t>Pruebas</a:t>
            </a:r>
            <a:r>
              <a:rPr lang="es-CL" u="sng"/>
              <a:t> y </a:t>
            </a:r>
            <a:r>
              <a:rPr lang="es-CL" u="sng"/>
              <a:t>errores </a:t>
            </a:r>
            <a:endParaRPr/>
          </a:p>
        </p:txBody>
      </p:sp>
      <p:sp>
        <p:nvSpPr>
          <p:cNvPr id="286" name="Google Shape;286;h433a46a23d8f0ef1_5_1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h433a46a23d8f0ef1_5_1" title="malo torta rf 29 blanco -negro .png"/>
          <p:cNvPicPr preferRelativeResize="0"/>
          <p:nvPr/>
        </p:nvPicPr>
        <p:blipFill rotWithShape="1">
          <a:blip r:embed="rId3">
            <a:alphaModFix/>
          </a:blip>
          <a:srcRect b="3840" l="0" r="12702" t="-3840"/>
          <a:stretch/>
        </p:blipFill>
        <p:spPr>
          <a:xfrm>
            <a:off x="1474563" y="1437413"/>
            <a:ext cx="8896225" cy="51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433a46a23d8f0ef1_5_7"/>
          <p:cNvSpPr txBox="1"/>
          <p:nvPr>
            <p:ph type="title"/>
          </p:nvPr>
        </p:nvSpPr>
        <p:spPr>
          <a:xfrm>
            <a:off x="2139015" y="-5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/>
              <a:t> </a:t>
            </a:r>
            <a:r>
              <a:rPr lang="es-CL" u="sng"/>
              <a:t>Solución</a:t>
            </a:r>
            <a:r>
              <a:rPr lang="es-CL" u="sng"/>
              <a:t> </a:t>
            </a:r>
            <a:endParaRPr u="sng"/>
          </a:p>
        </p:txBody>
      </p:sp>
      <p:sp>
        <p:nvSpPr>
          <p:cNvPr id="293" name="Google Shape;293;h433a46a23d8f0ef1_5_7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h433a46a23d8f0ef1_5_7" title="Captura de pantalla 2026-10-04 225325.png"/>
          <p:cNvPicPr preferRelativeResize="0"/>
          <p:nvPr/>
        </p:nvPicPr>
        <p:blipFill rotWithShape="1">
          <a:blip r:embed="rId3">
            <a:alphaModFix/>
          </a:blip>
          <a:srcRect b="0" l="0" r="4580" t="0"/>
          <a:stretch/>
        </p:blipFill>
        <p:spPr>
          <a:xfrm>
            <a:off x="1897450" y="1399250"/>
            <a:ext cx="8816100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 txBox="1"/>
          <p:nvPr>
            <p:ph type="title"/>
          </p:nvPr>
        </p:nvSpPr>
        <p:spPr>
          <a:xfrm>
            <a:off x="1939775" y="458472"/>
            <a:ext cx="8770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47619"/>
              <a:buNone/>
            </a:pPr>
            <a:r>
              <a:rPr lang="es-CL" sz="4200"/>
              <a:t>Scrum++</a:t>
            </a:r>
            <a:endParaRPr sz="4200"/>
          </a:p>
        </p:txBody>
      </p:sp>
      <p:pic>
        <p:nvPicPr>
          <p:cNvPr id="301" name="Google Shape;3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02" name="Google Shape;30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5500" y="1394300"/>
            <a:ext cx="10273525" cy="466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7" name="Google Shape;317;p18"/>
          <p:cNvSpPr txBox="1"/>
          <p:nvPr>
            <p:ph type="title"/>
          </p:nvPr>
        </p:nvSpPr>
        <p:spPr>
          <a:xfrm>
            <a:off x="116100" y="2613762"/>
            <a:ext cx="6779700" cy="16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9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continuación una demostración</a:t>
            </a:r>
            <a:endParaRPr sz="4200"/>
          </a:p>
        </p:txBody>
      </p:sp>
      <p:sp>
        <p:nvSpPr>
          <p:cNvPr id="318" name="Google Shape;318;p18"/>
          <p:cNvSpPr/>
          <p:nvPr/>
        </p:nvSpPr>
        <p:spPr>
          <a:xfrm flipH="1">
            <a:off x="6986049" y="0"/>
            <a:ext cx="5205951" cy="6858000"/>
          </a:xfrm>
          <a:custGeom>
            <a:rect b="b" l="l" r="r" t="t"/>
            <a:pathLst>
              <a:path extrusionOk="0" h="6858000" w="5205951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9" name="Google Shape;319;p18"/>
          <p:cNvSpPr/>
          <p:nvPr/>
        </p:nvSpPr>
        <p:spPr>
          <a:xfrm flipH="1">
            <a:off x="6553480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0" name="Google Shape;320;p18"/>
          <p:cNvSpPr/>
          <p:nvPr/>
        </p:nvSpPr>
        <p:spPr>
          <a:xfrm flipH="1">
            <a:off x="6758825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21" name="Google Shape;3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5050" y="1966963"/>
            <a:ext cx="2924075" cy="29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22" name="Google Shape;3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etchLinesVTI">
  <a:themeElements>
    <a:clrScheme name="SketchLines">
      <a:dk1>
        <a:srgbClr val="000000"/>
      </a:dk1>
      <a:lt1>
        <a:srgbClr val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
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DM Sans Medium"/>
      <p:regular r:id="rId23"/>
      <p:bold r:id="rId24"/>
      <p:italic r:id="rId25"/>
      <p:boldItalic r:id="rId26"/>
    </p:embeddedFont>
    <p:embeddedFont>
      <p:font typeface="Domine"/>
      <p:regular r:id="rId27"/>
      <p:bold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pnzYcdyO9TyesqKTHNho3TXJ0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DMSansMedium-bold.fntdata"/><Relationship Id="rId23" Type="http://schemas.openxmlformats.org/officeDocument/2006/relationships/font" Target="fonts/DMSans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Medium-boldItalic.fntdata"/><Relationship Id="rId25" Type="http://schemas.openxmlformats.org/officeDocument/2006/relationships/font" Target="fonts/DMSansMedium-italic.fntdata"/><Relationship Id="rId28" Type="http://schemas.openxmlformats.org/officeDocument/2006/relationships/font" Target="fonts/Domine-bold.fntdata"/><Relationship Id="rId27" Type="http://schemas.openxmlformats.org/officeDocument/2006/relationships/font" Target="fonts/Domin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433a46a23d8f0ef1_4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433a46a23d8f0ef1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433a46a23d8f0ef1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h433a46a23d8f0ef1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b451e5df7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b451e5df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433a46a23d8f0ef1_5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433a46a23d8f0ef1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433a46a23d8f0ef1_5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433a46a23d8f0ef1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Osvaldo wazaaaaaaaaaaaaaaaaaaaaaaaaaaaaaaaaaaaaaaaaaaaaaaaaaaaaaaaaaaaaaaaaaaaaaaaaaaaaaaaaa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" name="Google Shape;14;p20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" name="Google Shape;19;p20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20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" name="Google Shape;21;p20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22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36" name="Google Shape;36;p22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3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39" name="Google Shape;39;p23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" name="Google Shape;40;p23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23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23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43" name="Google Shape;43;p23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44" name="Google Shape;44;p23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5" name="Google Shape;45;p23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6" name="Google Shape;46;p23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" name="Google Shape;47;p23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48" name="Google Shape;48;p23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49" name="Google Shape;49;p23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0" name="Google Shape;50;p23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1" name="Google Shape;51;p23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2" name="Google Shape;52;p23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53" name="Google Shape;53;p23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7" name="Google Shape;77;p27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83" name="Google Shape;83;p28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28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0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0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00" name="Google Shape;100;p30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9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1.jp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6" name="Google Shape;106;p1" title="1250635470-ssebastian-3854.jpg"/>
          <p:cNvPicPr preferRelativeResize="0"/>
          <p:nvPr/>
        </p:nvPicPr>
        <p:blipFill rotWithShape="1">
          <a:blip r:embed="rId4">
            <a:alphaModFix/>
          </a:blip>
          <a:srcRect b="0" l="12659" r="12659" t="0"/>
          <a:stretch/>
        </p:blipFill>
        <p:spPr>
          <a:xfrm>
            <a:off x="4800683" y="-3"/>
            <a:ext cx="7704667" cy="6877878"/>
          </a:xfrm>
          <a:custGeom>
            <a:rect b="b" l="l" r="r" t="t"/>
            <a:pathLst>
              <a:path extrusionOk="0" h="6877878" w="7704667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0" y="0"/>
            <a:ext cx="7475746" cy="6858000"/>
          </a:xfrm>
          <a:custGeom>
            <a:rect b="b" l="l" r="r" t="t"/>
            <a:pathLst>
              <a:path extrusionOk="0" h="6858000" w="7475746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-52278" y="0"/>
            <a:ext cx="7289059" cy="6858000"/>
          </a:xfrm>
          <a:custGeom>
            <a:rect b="b" l="l" r="r" t="t"/>
            <a:pathLst>
              <a:path extrusionOk="0" h="6858000" w="7163694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5229827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111675" y="264225"/>
            <a:ext cx="61779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CL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13: CONVIDATA</a:t>
            </a:r>
            <a:endParaRPr sz="3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429442" y="2913358"/>
            <a:ext cx="4162357" cy="3542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4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Osvaldo Octavio Caraccioli Cisterna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Andres Fernández Soto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Benjamín Alejandro Orellana Romero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Isaías Abel Ortiz Castro 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Thomas Soto Garrido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Matías Ignacio Urria Ibarra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78338"/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</a:t>
            </a: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br>
              <a:rPr lang="es-CL"/>
            </a:br>
            <a:endParaRPr/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3454" y="2557039"/>
            <a:ext cx="1803325" cy="18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6">
            <a:alphaModFix/>
          </a:blip>
          <a:srcRect b="14733" l="13642" r="7138" t="22414"/>
          <a:stretch/>
        </p:blipFill>
        <p:spPr>
          <a:xfrm>
            <a:off x="9652000" y="111500"/>
            <a:ext cx="2529725" cy="10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55" y="-14350"/>
            <a:ext cx="12191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2"/>
          <p:cNvSpPr txBox="1"/>
          <p:nvPr>
            <p:ph type="title"/>
          </p:nvPr>
        </p:nvSpPr>
        <p:spPr>
          <a:xfrm>
            <a:off x="5937925" y="1146286"/>
            <a:ext cx="5624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 </a:t>
            </a:r>
            <a:endParaRPr sz="2800"/>
          </a:p>
        </p:txBody>
      </p:sp>
      <p:sp>
        <p:nvSpPr>
          <p:cNvPr id="128" name="Google Shape;128;p2"/>
          <p:cNvSpPr/>
          <p:nvPr/>
        </p:nvSpPr>
        <p:spPr>
          <a:xfrm>
            <a:off x="587555" y="993913"/>
            <a:ext cx="5224848" cy="4884295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83293" y="1074738"/>
            <a:ext cx="4906732" cy="467981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77837" y="850790"/>
            <a:ext cx="5407926" cy="513654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400" y="1939125"/>
            <a:ext cx="2536425" cy="2536425"/>
          </a:xfrm>
          <a:prstGeom prst="rect">
            <a:avLst/>
          </a:prstGeom>
          <a:noFill/>
          <a:ln cap="flat" cmpd="sng" w="9525">
            <a:solidFill>
              <a:srgbClr val="6E17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niversidad Andrés Bello - Red Campus Sustentable" id="132" name="Google Shape;1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>
            <p:ph type="title"/>
          </p:nvPr>
        </p:nvSpPr>
        <p:spPr>
          <a:xfrm>
            <a:off x="6006300" y="2332000"/>
            <a:ext cx="5624100" cy="28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CL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este proyecto se desarrollará un sistema de registro y almacenamiento de datos de convivencia escolar para el Colegio San Sebastián de Melipilla. La propuesta surge debido a la falta de digitalización de las anotaciones, lo que genera pérdida de tiempo y dificulta la gestión de la información. Este sistema permitirá optimizar el registro, consulta y seguimiento de los casos de convivencia escolar.</a:t>
            </a:r>
            <a:endParaRPr sz="134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Introducción</a:t>
            </a:r>
            <a:endParaRPr sz="4200"/>
          </a:p>
        </p:txBody>
      </p:sp>
      <p:grpSp>
        <p:nvGrpSpPr>
          <p:cNvPr id="139" name="Google Shape;139;p3"/>
          <p:cNvGrpSpPr/>
          <p:nvPr/>
        </p:nvGrpSpPr>
        <p:grpSpPr>
          <a:xfrm>
            <a:off x="6367125" y="2026594"/>
            <a:ext cx="4286400" cy="3680400"/>
            <a:chOff x="2428800" y="736800"/>
            <a:chExt cx="4286400" cy="3680400"/>
          </a:xfrm>
        </p:grpSpPr>
        <p:sp>
          <p:nvSpPr>
            <p:cNvPr id="140" name="Google Shape;140;p3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41" name="Google Shape;141;p3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3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3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17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Requerimientos funcionales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Progreso para el incremento 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i="0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17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Requerimiento UR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50" name="Google Shape;150;p3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3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" name="Google Shape;152;p3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17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Casos de uso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 rot="10800000">
              <a:off x="2592159" y="387870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 rot="10800000">
              <a:off x="2670597" y="387881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35</a:t>
              </a: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Diagrama de secuencia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6025600" y="2092100"/>
            <a:ext cx="4668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59" name="Google Shape;159;p3"/>
          <p:cNvGrpSpPr/>
          <p:nvPr/>
        </p:nvGrpSpPr>
        <p:grpSpPr>
          <a:xfrm>
            <a:off x="1920250" y="2037709"/>
            <a:ext cx="4286400" cy="3680400"/>
            <a:chOff x="2428800" y="736800"/>
            <a:chExt cx="4286400" cy="3680400"/>
          </a:xfrm>
        </p:grpSpPr>
        <p:sp>
          <p:nvSpPr>
            <p:cNvPr id="160" name="Google Shape;160;p3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61" name="Google Shape;161;p3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3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3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75  Requerimientos Funcionales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Total definido para el proyecto</a:t>
              </a:r>
              <a:endParaRPr b="1" i="0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75 Requerimientos UR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70" name="Google Shape;170;p3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3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3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79 Casos de uso</a:t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76" name="Google Shape;176;p3"/>
          <p:cNvSpPr txBox="1"/>
          <p:nvPr/>
        </p:nvSpPr>
        <p:spPr>
          <a:xfrm>
            <a:off x="5039100" y="5707000"/>
            <a:ext cx="2113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Avance total: </a:t>
            </a:r>
            <a:r>
              <a:rPr b="1" lang="es-CL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96</a:t>
            </a:r>
            <a:r>
              <a:rPr b="1" i="0" lang="es-CL" sz="1600" u="none" cap="none" strike="noStrike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%</a:t>
            </a:r>
            <a:endParaRPr b="1" i="0" sz="1600" u="none" cap="none" strike="noStrike">
              <a:solidFill>
                <a:srgbClr val="783F0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RF-17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2425" y="12005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</a:t>
            </a:r>
            <a:r>
              <a:rPr b="1" lang="es-CL" sz="1600">
                <a:solidFill>
                  <a:schemeClr val="dk1"/>
                </a:solidFill>
              </a:rPr>
              <a:t>17</a:t>
            </a:r>
            <a:r>
              <a:rPr b="1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600">
                <a:solidFill>
                  <a:schemeClr val="dk1"/>
                </a:solidFill>
              </a:rPr>
              <a:t>El sistema debe notificar al usuario creador del caso en el apartado de notificaciones cuando el caso sea eliminado o editado por otro usuario, en un plazo máximo de 4 segundos desde su modificación.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50" y="2670175"/>
            <a:ext cx="5120382" cy="388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36050" y="3129875"/>
            <a:ext cx="59436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RF-34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93" name="Google Shape;1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4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</a:rPr>
              <a:t>RF-34)</a:t>
            </a:r>
            <a:r>
              <a:rPr lang="es-CL" sz="1600">
                <a:solidFill>
                  <a:schemeClr val="dk1"/>
                </a:solidFill>
              </a:rPr>
              <a:t> El sistema debe mostrar al profesor una alerta automática en “notificaciones”, cuando su curso exceda los 10 casos semanales.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8900" y="2614200"/>
            <a:ext cx="6327124" cy="34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"/>
          <p:cNvPicPr preferRelativeResize="0"/>
          <p:nvPr/>
        </p:nvPicPr>
        <p:blipFill rotWithShape="1">
          <a:blip r:embed="rId7">
            <a:alphaModFix/>
          </a:blip>
          <a:srcRect b="0" l="0" r="0" t="2913"/>
          <a:stretch/>
        </p:blipFill>
        <p:spPr>
          <a:xfrm>
            <a:off x="223075" y="2546400"/>
            <a:ext cx="4880850" cy="376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>
            <p:ph type="title"/>
          </p:nvPr>
        </p:nvSpPr>
        <p:spPr>
          <a:xfrm>
            <a:off x="2121490" y="155286"/>
            <a:ext cx="8770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Componentes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05" name="Google Shape;2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3951" y="1831925"/>
            <a:ext cx="8882674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2625" y="838750"/>
            <a:ext cx="10223501" cy="58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1985983" y="179137"/>
            <a:ext cx="7644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Modelo Físico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 title="Diagram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775" y="1074812"/>
            <a:ext cx="10654450" cy="5376704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9"/>
          <p:cNvSpPr/>
          <p:nvPr/>
        </p:nvSpPr>
        <p:spPr>
          <a:xfrm>
            <a:off x="6056050" y="3360800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111500" y="279017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1868075" y="2040600"/>
            <a:ext cx="88227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24" name="Google Shape;2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1800" y="1363075"/>
            <a:ext cx="3906375" cy="43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1900" y="1363075"/>
            <a:ext cx="4038025" cy="43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 txBox="1"/>
          <p:nvPr>
            <p:ph type="title"/>
          </p:nvPr>
        </p:nvSpPr>
        <p:spPr>
          <a:xfrm>
            <a:off x="1698600" y="523320"/>
            <a:ext cx="87705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Árbol de navegación</a:t>
            </a:r>
            <a:endParaRPr sz="4200"/>
          </a:p>
        </p:txBody>
      </p:sp>
      <p:pic>
        <p:nvPicPr>
          <p:cNvPr descr="Universidad Andrés Bello - Red Campus Sustentable" id="232" name="Google Shape;2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050" y="1615025"/>
            <a:ext cx="11379200" cy="524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433a46a23d8f0ef1_4_16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h433a46a23d8f0ef1_4_16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h433a46a23d8f0ef1_4_16"/>
          <p:cNvPicPr preferRelativeResize="0"/>
          <p:nvPr/>
        </p:nvPicPr>
        <p:blipFill rotWithShape="1">
          <a:blip r:embed="rId3">
            <a:alphaModFix/>
          </a:blip>
          <a:srcRect b="0" l="8442" r="0" t="15690"/>
          <a:stretch/>
        </p:blipFill>
        <p:spPr>
          <a:xfrm>
            <a:off x="4236725" y="2438400"/>
            <a:ext cx="3525525" cy="36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idx="1" type="body"/>
          </p:nvPr>
        </p:nvSpPr>
        <p:spPr>
          <a:xfrm>
            <a:off x="1920241" y="2456408"/>
            <a:ext cx="4160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 txBox="1"/>
          <p:nvPr>
            <p:ph idx="2" type="body"/>
          </p:nvPr>
        </p:nvSpPr>
        <p:spPr>
          <a:xfrm>
            <a:off x="1920241" y="3316639"/>
            <a:ext cx="4160400" cy="2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 txBox="1"/>
          <p:nvPr>
            <p:ph idx="3" type="body"/>
          </p:nvPr>
        </p:nvSpPr>
        <p:spPr>
          <a:xfrm>
            <a:off x="6530290" y="2456408"/>
            <a:ext cx="4160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 txBox="1"/>
          <p:nvPr>
            <p:ph idx="4" type="body"/>
          </p:nvPr>
        </p:nvSpPr>
        <p:spPr>
          <a:xfrm>
            <a:off x="6530290" y="3316639"/>
            <a:ext cx="4160400" cy="2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 txBox="1"/>
          <p:nvPr>
            <p:ph type="title"/>
          </p:nvPr>
        </p:nvSpPr>
        <p:spPr>
          <a:xfrm>
            <a:off x="1827200" y="274725"/>
            <a:ext cx="87705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Diagrama de secuencia CU18</a:t>
            </a:r>
            <a:endParaRPr sz="4200"/>
          </a:p>
        </p:txBody>
      </p:sp>
      <p:pic>
        <p:nvPicPr>
          <p:cNvPr id="251" name="Google Shape;2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52" name="Google Shape;2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2888" y="1547075"/>
            <a:ext cx="9106225" cy="49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"/>
          <p:cNvSpPr txBox="1"/>
          <p:nvPr>
            <p:ph type="title"/>
          </p:nvPr>
        </p:nvSpPr>
        <p:spPr>
          <a:xfrm>
            <a:off x="1873715" y="209595"/>
            <a:ext cx="87705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4200"/>
              <a:t>Diagrama de secuencia CU37</a:t>
            </a:r>
            <a:endParaRPr sz="4200"/>
          </a:p>
        </p:txBody>
      </p:sp>
      <p:pic>
        <p:nvPicPr>
          <p:cNvPr id="259" name="Google Shape;2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60" name="Google Shape;2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8875" y="1735825"/>
            <a:ext cx="9494250" cy="48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433a46a23d8f0ef1_4_8"/>
          <p:cNvSpPr txBox="1"/>
          <p:nvPr>
            <p:ph type="title"/>
          </p:nvPr>
        </p:nvSpPr>
        <p:spPr>
          <a:xfrm>
            <a:off x="1581200" y="56899"/>
            <a:ext cx="8770500" cy="9930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700"/>
              <a:t>"Notificar eliminación o edición de caso" </a:t>
            </a:r>
            <a:endParaRPr sz="3700"/>
          </a:p>
        </p:txBody>
      </p:sp>
      <p:sp>
        <p:nvSpPr>
          <p:cNvPr id="267" name="Google Shape;267;h433a46a23d8f0ef1_4_8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h433a46a23d8f0ef1_4_8" title="rf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5150"/>
            <a:ext cx="12242800" cy="29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h433a46a23d8f0ef1_4_8" title="rf-17 claro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145250"/>
            <a:ext cx="12289774" cy="27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451e5df7_1_29"/>
          <p:cNvSpPr txBox="1"/>
          <p:nvPr>
            <p:ph type="title"/>
          </p:nvPr>
        </p:nvSpPr>
        <p:spPr>
          <a:xfrm>
            <a:off x="1920240" y="3539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NOTIFICACIÓN AL PROFESOR SI SE SUPERAN LOS 10 CASOS</a:t>
            </a:r>
            <a:endParaRPr sz="4200"/>
          </a:p>
        </p:txBody>
      </p:sp>
      <p:sp>
        <p:nvSpPr>
          <p:cNvPr id="275" name="Google Shape;275;g3fb451e5df7_1_29"/>
          <p:cNvSpPr txBox="1"/>
          <p:nvPr>
            <p:ph idx="1" type="body"/>
          </p:nvPr>
        </p:nvSpPr>
        <p:spPr>
          <a:xfrm>
            <a:off x="1920240" y="288892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g3fb451e5df7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8099934">
            <a:off x="1587248" y="4939590"/>
            <a:ext cx="257553" cy="65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fb451e5df7_1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20120"/>
            <a:ext cx="12192001" cy="270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fb451e5df7_1_29"/>
          <p:cNvPicPr preferRelativeResize="0"/>
          <p:nvPr/>
        </p:nvPicPr>
        <p:blipFill rotWithShape="1">
          <a:blip r:embed="rId5">
            <a:alphaModFix/>
          </a:blip>
          <a:srcRect b="8027" l="0" r="0" t="3273"/>
          <a:stretch/>
        </p:blipFill>
        <p:spPr>
          <a:xfrm>
            <a:off x="0" y="4351800"/>
            <a:ext cx="12192000" cy="25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33a46a23d8f0ef1_5_1"/>
          <p:cNvSpPr txBox="1"/>
          <p:nvPr>
            <p:ph type="title"/>
          </p:nvPr>
        </p:nvSpPr>
        <p:spPr>
          <a:xfrm>
            <a:off x="1600265" y="2125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/>
              <a:t>Pruebas</a:t>
            </a:r>
            <a:r>
              <a:rPr lang="es-CL" u="sng"/>
              <a:t> y </a:t>
            </a:r>
            <a:r>
              <a:rPr lang="es-CL" u="sng"/>
              <a:t>errores </a:t>
            </a:r>
            <a:endParaRPr/>
          </a:p>
        </p:txBody>
      </p:sp>
      <p:sp>
        <p:nvSpPr>
          <p:cNvPr id="284" name="Google Shape;284;h433a46a23d8f0ef1_5_1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h433a46a23d8f0ef1_5_1" title="malo torta rf 29 blanco -negro .png"/>
          <p:cNvPicPr preferRelativeResize="0"/>
          <p:nvPr/>
        </p:nvPicPr>
        <p:blipFill rotWithShape="1">
          <a:blip r:embed="rId3">
            <a:alphaModFix/>
          </a:blip>
          <a:srcRect b="3840" l="0" r="12702" t="-3840"/>
          <a:stretch/>
        </p:blipFill>
        <p:spPr>
          <a:xfrm>
            <a:off x="1474563" y="1437413"/>
            <a:ext cx="8896225" cy="51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433a46a23d8f0ef1_5_7"/>
          <p:cNvSpPr txBox="1"/>
          <p:nvPr>
            <p:ph type="title"/>
          </p:nvPr>
        </p:nvSpPr>
        <p:spPr>
          <a:xfrm>
            <a:off x="2139015" y="-5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/>
              <a:t> </a:t>
            </a:r>
            <a:r>
              <a:rPr lang="es-CL" u="sng"/>
              <a:t>Solución</a:t>
            </a:r>
            <a:r>
              <a:rPr lang="es-CL" u="sng"/>
              <a:t> </a:t>
            </a:r>
            <a:endParaRPr u="sng"/>
          </a:p>
        </p:txBody>
      </p:sp>
      <p:sp>
        <p:nvSpPr>
          <p:cNvPr id="291" name="Google Shape;291;h433a46a23d8f0ef1_5_7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h433a46a23d8f0ef1_5_7" title="Captura de pantalla 2026-10-04 225325.png"/>
          <p:cNvPicPr preferRelativeResize="0"/>
          <p:nvPr/>
        </p:nvPicPr>
        <p:blipFill rotWithShape="1">
          <a:blip r:embed="rId3">
            <a:alphaModFix/>
          </a:blip>
          <a:srcRect b="0" l="0" r="4580" t="0"/>
          <a:stretch/>
        </p:blipFill>
        <p:spPr>
          <a:xfrm>
            <a:off x="1897450" y="1399250"/>
            <a:ext cx="8816100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 txBox="1"/>
          <p:nvPr>
            <p:ph type="title"/>
          </p:nvPr>
        </p:nvSpPr>
        <p:spPr>
          <a:xfrm>
            <a:off x="1939775" y="458472"/>
            <a:ext cx="877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47619"/>
              <a:buNone/>
            </a:pPr>
            <a:r>
              <a:rPr lang="es-CL" sz="4200"/>
              <a:t>Scrum++</a:t>
            </a:r>
            <a:endParaRPr sz="4200"/>
          </a:p>
        </p:txBody>
      </p:sp>
      <p:pic>
        <p:nvPicPr>
          <p:cNvPr id="299" name="Google Shape;29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00" name="Google Shape;30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5500" y="1394300"/>
            <a:ext cx="10273525" cy="466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5" name="Google Shape;315;p18"/>
          <p:cNvSpPr txBox="1"/>
          <p:nvPr>
            <p:ph type="title"/>
          </p:nvPr>
        </p:nvSpPr>
        <p:spPr>
          <a:xfrm>
            <a:off x="116100" y="2613762"/>
            <a:ext cx="6779700" cy="16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9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continuación una demostración</a:t>
            </a:r>
            <a:endParaRPr sz="4200"/>
          </a:p>
        </p:txBody>
      </p:sp>
      <p:sp>
        <p:nvSpPr>
          <p:cNvPr id="316" name="Google Shape;316;p18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7" name="Google Shape;317;p18"/>
          <p:cNvSpPr/>
          <p:nvPr/>
        </p:nvSpPr>
        <p:spPr>
          <a:xfrm flipH="1">
            <a:off x="655348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8" name="Google Shape;318;p18"/>
          <p:cNvSpPr/>
          <p:nvPr/>
        </p:nvSpPr>
        <p:spPr>
          <a:xfrm flipH="1">
            <a:off x="6758825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19" name="Google Shape;3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5050" y="1966963"/>
            <a:ext cx="2924075" cy="29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20" name="Google Shape;3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